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8" r:id="rId5"/>
    <p:sldId id="275" r:id="rId6"/>
    <p:sldId id="259" r:id="rId7"/>
    <p:sldId id="260" r:id="rId8"/>
    <p:sldId id="273" r:id="rId9"/>
    <p:sldId id="261" r:id="rId10"/>
    <p:sldId id="262" r:id="rId11"/>
    <p:sldId id="263" r:id="rId12"/>
    <p:sldId id="279" r:id="rId13"/>
    <p:sldId id="264" r:id="rId14"/>
    <p:sldId id="265" r:id="rId15"/>
    <p:sldId id="266" r:id="rId16"/>
    <p:sldId id="267" r:id="rId17"/>
    <p:sldId id="269" r:id="rId18"/>
    <p:sldId id="277" r:id="rId19"/>
    <p:sldId id="271" r:id="rId20"/>
  </p:sldIdLst>
  <p:sldSz cx="18288000" cy="10287000"/>
  <p:notesSz cx="6858000" cy="9144000"/>
  <p:embeddedFontLs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Canva Sans Bold" panose="020B0604020202020204" charset="0"/>
      <p:regular r:id="rId25"/>
    </p:embeddedFont>
    <p:embeddedFont>
      <p:font typeface="Garet" panose="020B0604020202020204" charset="0"/>
      <p:regular r:id="rId26"/>
    </p:embeddedFont>
    <p:embeddedFont>
      <p:font typeface="ITC Motter Corpus Regular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4AB7C8-C4CB-49F6-B073-0CBF87F4542E}" v="94" dt="2025-08-21T16:58:31.2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22" autoAdjust="0"/>
  </p:normalViewPr>
  <p:slideViewPr>
    <p:cSldViewPr>
      <p:cViewPr varScale="1">
        <p:scale>
          <a:sx n="52" d="100"/>
          <a:sy n="52" d="100"/>
        </p:scale>
        <p:origin x="87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3335000" y="23352"/>
            <a:ext cx="4953000" cy="1800529"/>
          </a:xfrm>
          <a:custGeom>
            <a:avLst/>
            <a:gdLst/>
            <a:ahLst/>
            <a:cxnLst/>
            <a:rect l="l" t="t" r="r" b="b"/>
            <a:pathLst>
              <a:path w="5486696" h="2115161">
                <a:moveTo>
                  <a:pt x="0" y="0"/>
                </a:moveTo>
                <a:lnTo>
                  <a:pt x="5486696" y="0"/>
                </a:lnTo>
                <a:lnTo>
                  <a:pt x="5486696" y="2115161"/>
                </a:lnTo>
                <a:lnTo>
                  <a:pt x="0" y="21151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19527" y="3373785"/>
            <a:ext cx="7970765" cy="3539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240"/>
              </a:lnSpc>
            </a:pPr>
            <a:r>
              <a:rPr lang="en-US" sz="7700" spc="207" dirty="0">
                <a:solidFill>
                  <a:srgbClr val="065169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GROWTH</a:t>
            </a:r>
            <a:r>
              <a:rPr lang="en-US" sz="7700" u="none" spc="207" dirty="0">
                <a:solidFill>
                  <a:srgbClr val="065169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 MINDSET IN ACTION</a:t>
            </a:r>
          </a:p>
        </p:txBody>
      </p:sp>
      <p:pic>
        <p:nvPicPr>
          <p:cNvPr id="4098" name="Picture 2" descr="The Power of a The Growth Mindset - LeadersToolbelt.com">
            <a:extLst>
              <a:ext uri="{FF2B5EF4-FFF2-40B4-BE49-F238E27FC236}">
                <a16:creationId xmlns:a16="http://schemas.microsoft.com/office/drawing/2014/main" id="{3CE6B383-5E47-ACF9-A807-355D1D243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208" y="2324100"/>
            <a:ext cx="8940912" cy="6019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41289" y="1083800"/>
            <a:ext cx="10506836" cy="8174500"/>
          </a:xfrm>
          <a:custGeom>
            <a:avLst/>
            <a:gdLst/>
            <a:ahLst/>
            <a:cxnLst/>
            <a:rect l="l" t="t" r="r" b="b"/>
            <a:pathLst>
              <a:path w="10506836" h="8174500">
                <a:moveTo>
                  <a:pt x="0" y="0"/>
                </a:moveTo>
                <a:lnTo>
                  <a:pt x="10506836" y="0"/>
                </a:lnTo>
                <a:lnTo>
                  <a:pt x="10506836" y="8174500"/>
                </a:lnTo>
                <a:lnTo>
                  <a:pt x="0" y="8174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91A6EC-1C7B-BBF9-EC33-3975B570F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485900"/>
            <a:ext cx="7467600" cy="76112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85CB22-F12F-B230-62C2-99DA1E4D8BC0}"/>
              </a:ext>
            </a:extLst>
          </p:cNvPr>
          <p:cNvSpPr txBox="1"/>
          <p:nvPr/>
        </p:nvSpPr>
        <p:spPr>
          <a:xfrm>
            <a:off x="6781800" y="647700"/>
            <a:ext cx="5181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Muller-Lyer Illusion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723DBD-8C4B-D541-A208-E8C454BBE28C}"/>
              </a:ext>
            </a:extLst>
          </p:cNvPr>
          <p:cNvSpPr txBox="1"/>
          <p:nvPr/>
        </p:nvSpPr>
        <p:spPr>
          <a:xfrm>
            <a:off x="1066800" y="1104900"/>
            <a:ext cx="16078200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Müller-Lyer Illusion</a:t>
            </a:r>
          </a:p>
          <a:p>
            <a:pPr algn="ctr"/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  <a:p>
            <a:r>
              <a:rPr lang="en-US" sz="3200" b="1" dirty="0"/>
              <a:t>1. Perception ≠ Reality</a:t>
            </a:r>
          </a:p>
          <a:p>
            <a:r>
              <a:rPr lang="en-US" sz="3200" dirty="0"/>
              <a:t>Just because something </a:t>
            </a:r>
            <a:r>
              <a:rPr lang="en-US" sz="3200" i="1" dirty="0"/>
              <a:t>looks</a:t>
            </a:r>
            <a:r>
              <a:rPr lang="en-US" sz="3200" dirty="0"/>
              <a:t> true doesn’t mean it </a:t>
            </a:r>
            <a:r>
              <a:rPr lang="en-US" sz="3200" i="1" dirty="0"/>
              <a:t>is</a:t>
            </a:r>
            <a:r>
              <a:rPr lang="en-US" sz="3200" dirty="0"/>
              <a:t> true.</a:t>
            </a:r>
          </a:p>
          <a:p>
            <a:r>
              <a:rPr lang="en-US" sz="3200" dirty="0"/>
              <a:t>Mindset shift: </a:t>
            </a:r>
            <a:r>
              <a:rPr lang="en-US" sz="3200" i="1" dirty="0"/>
              <a:t>“Don’t blindly trust first impressions — question, verify, think deeper.”</a:t>
            </a:r>
          </a:p>
          <a:p>
            <a:endParaRPr lang="en-US" sz="3200" i="1" dirty="0"/>
          </a:p>
          <a:p>
            <a:br>
              <a:rPr lang="en-US" sz="3200" dirty="0"/>
            </a:br>
            <a:r>
              <a:rPr lang="en-US" sz="3200" b="1" dirty="0"/>
              <a:t>2. Biases Influence Judgments</a:t>
            </a:r>
          </a:p>
          <a:p>
            <a:r>
              <a:rPr lang="en-US" sz="3200" dirty="0"/>
              <a:t>Our brains take shortcuts → often leading to errors.</a:t>
            </a:r>
          </a:p>
          <a:p>
            <a:r>
              <a:rPr lang="en-US" sz="3200" dirty="0"/>
              <a:t>Mindset shift: </a:t>
            </a:r>
            <a:r>
              <a:rPr lang="en-US" sz="3200" i="1" dirty="0"/>
              <a:t>“I may carry hidden biases about myself and others. To grow, I must challenge them.”</a:t>
            </a:r>
            <a:br>
              <a:rPr lang="en-US" sz="3200" dirty="0"/>
            </a:br>
            <a:r>
              <a:rPr lang="en-US" sz="3200" dirty="0"/>
              <a:t>In teamwork: Don’t judge a classmate by their quietness or background — they may have hidden talents.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7614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Image result for chair">
            <a:extLst>
              <a:ext uri="{FF2B5EF4-FFF2-40B4-BE49-F238E27FC236}">
                <a16:creationId xmlns:a16="http://schemas.microsoft.com/office/drawing/2014/main" id="{8B9FE56C-D053-FCA1-89F3-F511F3CC5B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4" name="Picture 6" descr="&quot;Old Oak Tree&quot; Images – Browse 822 Stock Photos, Vectors, and Video ...">
            <a:extLst>
              <a:ext uri="{FF2B5EF4-FFF2-40B4-BE49-F238E27FC236}">
                <a16:creationId xmlns:a16="http://schemas.microsoft.com/office/drawing/2014/main" id="{9D36803C-9453-1D67-09D1-A93C9684D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323573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0437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609600" y="952500"/>
            <a:ext cx="17068800" cy="7460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29"/>
              </a:lnSpc>
            </a:pPr>
            <a:endParaRPr lang="en-US" sz="3200" dirty="0">
              <a:solidFill>
                <a:srgbClr val="065169"/>
              </a:solidFill>
              <a:latin typeface="Garet"/>
              <a:ea typeface="Garet"/>
              <a:cs typeface="Garet"/>
              <a:sym typeface="Garet"/>
            </a:endParaRPr>
          </a:p>
          <a:p>
            <a:r>
              <a:rPr lang="en-US" sz="3200" b="1" dirty="0"/>
              <a:t>1. The 40% Rule Challenge (Best Fit)</a:t>
            </a:r>
          </a:p>
          <a:p>
            <a:r>
              <a:rPr lang="en-US" sz="3200" i="1" dirty="0"/>
              <a:t>When you think you’re done, you’re only at 40% of your potential.</a:t>
            </a:r>
          </a:p>
          <a:p>
            <a:r>
              <a:rPr lang="en-IN" sz="3200" dirty="0"/>
              <a:t>Comfort zone vs. real capability</a:t>
            </a:r>
          </a:p>
          <a:p>
            <a:endParaRPr lang="en-IN" sz="3200" b="1" dirty="0"/>
          </a:p>
          <a:p>
            <a:r>
              <a:rPr lang="en-IN" sz="3200" b="1" dirty="0"/>
              <a:t>2. Cookie Jar Reflection</a:t>
            </a:r>
          </a:p>
          <a:p>
            <a:r>
              <a:rPr lang="en-US" sz="3200" dirty="0"/>
              <a:t>“Cookie Jar” — dipping into past wins when times get tough. </a:t>
            </a:r>
          </a:p>
          <a:p>
            <a:endParaRPr lang="en-US" sz="3200" dirty="0"/>
          </a:p>
          <a:p>
            <a:r>
              <a:rPr lang="en-US" sz="3200" b="1" dirty="0"/>
              <a:t>3. Accountability Mirror</a:t>
            </a:r>
          </a:p>
          <a:p>
            <a:r>
              <a:rPr lang="en-US" sz="3200" dirty="0"/>
              <a:t>1 “truth” (something holding you back).</a:t>
            </a:r>
          </a:p>
          <a:p>
            <a:r>
              <a:rPr lang="en-US" sz="3200" dirty="0"/>
              <a:t>1 “power word” (your strength).</a:t>
            </a:r>
          </a:p>
          <a:p>
            <a:endParaRPr lang="en-US" sz="3200" dirty="0"/>
          </a:p>
          <a:p>
            <a:pPr algn="ctr">
              <a:lnSpc>
                <a:spcPts val="5429"/>
              </a:lnSpc>
            </a:pPr>
            <a:r>
              <a:rPr lang="en-US" sz="3200" dirty="0">
                <a:solidFill>
                  <a:srgbClr val="065169"/>
                </a:solidFill>
                <a:latin typeface="Garet"/>
                <a:ea typeface="Garet"/>
                <a:cs typeface="Garet"/>
                <a:sym typeface="Garet"/>
              </a:rPr>
              <a:t>Knowing is not enough → we must practice new ways of thinking</a:t>
            </a:r>
          </a:p>
          <a:p>
            <a:pPr algn="ctr">
              <a:lnSpc>
                <a:spcPts val="5429"/>
              </a:lnSpc>
              <a:spcBef>
                <a:spcPct val="0"/>
              </a:spcBef>
            </a:pPr>
            <a:r>
              <a:rPr lang="en-US" sz="3619" dirty="0">
                <a:solidFill>
                  <a:srgbClr val="065169"/>
                </a:solidFill>
                <a:latin typeface="Garet"/>
                <a:ea typeface="Garet"/>
                <a:cs typeface="Garet"/>
                <a:sym typeface="Garet"/>
              </a:rPr>
              <a:t>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10094" cy="10258813"/>
            <a:chOff x="0" y="0"/>
            <a:chExt cx="476733" cy="27525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6733" cy="2752539"/>
            </a:xfrm>
            <a:custGeom>
              <a:avLst/>
              <a:gdLst/>
              <a:ahLst/>
              <a:cxnLst/>
              <a:rect l="l" t="t" r="r" b="b"/>
              <a:pathLst>
                <a:path w="476733" h="2752539">
                  <a:moveTo>
                    <a:pt x="0" y="0"/>
                  </a:moveTo>
                  <a:lnTo>
                    <a:pt x="476733" y="0"/>
                  </a:lnTo>
                  <a:lnTo>
                    <a:pt x="476733" y="2752539"/>
                  </a:lnTo>
                  <a:lnTo>
                    <a:pt x="0" y="2752539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76733" cy="28096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477906" y="0"/>
            <a:ext cx="1810094" cy="10451045"/>
            <a:chOff x="0" y="0"/>
            <a:chExt cx="476733" cy="275253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6733" cy="2752539"/>
            </a:xfrm>
            <a:custGeom>
              <a:avLst/>
              <a:gdLst/>
              <a:ahLst/>
              <a:cxnLst/>
              <a:rect l="l" t="t" r="r" b="b"/>
              <a:pathLst>
                <a:path w="476733" h="2752539">
                  <a:moveTo>
                    <a:pt x="0" y="0"/>
                  </a:moveTo>
                  <a:lnTo>
                    <a:pt x="476733" y="0"/>
                  </a:lnTo>
                  <a:lnTo>
                    <a:pt x="476733" y="2752539"/>
                  </a:lnTo>
                  <a:lnTo>
                    <a:pt x="0" y="2752539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76733" cy="28096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4052803" y="2646226"/>
            <a:ext cx="10182393" cy="6799539"/>
          </a:xfrm>
          <a:custGeom>
            <a:avLst/>
            <a:gdLst/>
            <a:ahLst/>
            <a:cxnLst/>
            <a:rect l="l" t="t" r="r" b="b"/>
            <a:pathLst>
              <a:path w="10182393" h="6799539">
                <a:moveTo>
                  <a:pt x="0" y="0"/>
                </a:moveTo>
                <a:lnTo>
                  <a:pt x="10182394" y="0"/>
                </a:lnTo>
                <a:lnTo>
                  <a:pt x="10182394" y="6799539"/>
                </a:lnTo>
                <a:lnTo>
                  <a:pt x="0" y="6799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086350" y="640636"/>
            <a:ext cx="8115300" cy="1259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7400" b="1">
                <a:solidFill>
                  <a:srgbClr val="06516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1983 World Cup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EE7BA3-645F-D0AE-EACE-C2FEF64E78BE}"/>
              </a:ext>
            </a:extLst>
          </p:cNvPr>
          <p:cNvSpPr txBox="1"/>
          <p:nvPr/>
        </p:nvSpPr>
        <p:spPr>
          <a:xfrm>
            <a:off x="685800" y="723900"/>
            <a:ext cx="16611600" cy="9363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 1983, nobody believed India could win the World Cup.</a:t>
            </a:r>
          </a:p>
          <a:p>
            <a:pPr lvl="0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Bookies in London gave India 66:1 odds (illusion = “India is weak”).</a:t>
            </a:r>
          </a:p>
          <a:p>
            <a:pPr lvl="0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West Indies had already won 2 World Cups and were called “invincible.”</a:t>
            </a:r>
          </a:p>
          <a:p>
            <a:pPr lvl="0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Even Indian players admitted they felt like underdogs. </a:t>
            </a:r>
          </a:p>
          <a:p>
            <a:pPr lvl="0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endParaRPr lang="en-US" sz="3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Kapil Dev’s 175 not out vs Zimbabwe changed momentum → showed the team’s real strength.</a:t>
            </a:r>
          </a:p>
          <a:p>
            <a:pPr lvl="0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 the final, India scored only 183 runs (seemed too small, like the “shorter line”).</a:t>
            </a:r>
          </a:p>
          <a:p>
            <a:pPr lvl="0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Everyone thought West Indies would easily chase it.</a:t>
            </a:r>
          </a:p>
          <a:p>
            <a:pPr lvl="0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But India bowled them out for 140 and became champions</a:t>
            </a:r>
          </a:p>
          <a:p>
            <a:pPr lvl="0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endParaRPr lang="en-US" sz="3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“The world saw India as the shorter line — but in reality, they were equal, even stronger.”</a:t>
            </a:r>
            <a:endParaRPr lang="en-US" sz="3200" b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endParaRPr lang="en-US" sz="3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820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377950" y="1020178"/>
            <a:ext cx="1535749" cy="18288000"/>
            <a:chOff x="0" y="0"/>
            <a:chExt cx="404477" cy="4816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4477" cy="4816592"/>
            </a:xfrm>
            <a:custGeom>
              <a:avLst/>
              <a:gdLst/>
              <a:ahLst/>
              <a:cxnLst/>
              <a:rect l="l" t="t" r="r" b="b"/>
              <a:pathLst>
                <a:path w="404477" h="4816592">
                  <a:moveTo>
                    <a:pt x="0" y="0"/>
                  </a:moveTo>
                  <a:lnTo>
                    <a:pt x="404477" y="0"/>
                  </a:lnTo>
                  <a:lnTo>
                    <a:pt x="40447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04477" cy="4873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8376125" y="-9021178"/>
            <a:ext cx="1535749" cy="18288000"/>
            <a:chOff x="0" y="0"/>
            <a:chExt cx="404477" cy="48165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4477" cy="4816592"/>
            </a:xfrm>
            <a:custGeom>
              <a:avLst/>
              <a:gdLst/>
              <a:ahLst/>
              <a:cxnLst/>
              <a:rect l="l" t="t" r="r" b="b"/>
              <a:pathLst>
                <a:path w="404477" h="4816592">
                  <a:moveTo>
                    <a:pt x="0" y="0"/>
                  </a:moveTo>
                  <a:lnTo>
                    <a:pt x="404477" y="0"/>
                  </a:lnTo>
                  <a:lnTo>
                    <a:pt x="40447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04477" cy="4873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4953761" y="2346421"/>
            <a:ext cx="7958681" cy="5594159"/>
          </a:xfrm>
          <a:custGeom>
            <a:avLst/>
            <a:gdLst/>
            <a:ahLst/>
            <a:cxnLst/>
            <a:rect l="l" t="t" r="r" b="b"/>
            <a:pathLst>
              <a:path w="7958681" h="5594159">
                <a:moveTo>
                  <a:pt x="0" y="0"/>
                </a:moveTo>
                <a:lnTo>
                  <a:pt x="7958681" y="0"/>
                </a:lnTo>
                <a:lnTo>
                  <a:pt x="7958681" y="5594158"/>
                </a:lnTo>
                <a:lnTo>
                  <a:pt x="0" y="5594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297" b="-1029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02320" y="3503730"/>
            <a:ext cx="4101415" cy="2974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80"/>
              </a:lnSpc>
            </a:pPr>
            <a:r>
              <a:rPr lang="en-US" sz="4000">
                <a:solidFill>
                  <a:srgbClr val="FFA656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SHARK KEPT IN A SMALL AQUARIUM GROWS ONLY ABOUT 6–8 FEET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80540" y="2955944"/>
            <a:ext cx="4101415" cy="4432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80"/>
              </a:lnSpc>
            </a:pPr>
            <a:r>
              <a:rPr lang="en-US" sz="4000">
                <a:solidFill>
                  <a:srgbClr val="FFA656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SHARK IN OPEN OCEAN, THE VERY SAME SPECIES CAN GROW TO 12 FEET OR MORE </a:t>
            </a:r>
          </a:p>
          <a:p>
            <a:pPr marL="0" lvl="0" indent="0" algn="ctr">
              <a:lnSpc>
                <a:spcPts val="3880"/>
              </a:lnSpc>
            </a:pPr>
            <a:endParaRPr lang="en-US" sz="4000">
              <a:solidFill>
                <a:srgbClr val="FFA656"/>
              </a:solidFill>
              <a:latin typeface="ITC Motter Corpus Regular"/>
              <a:ea typeface="ITC Motter Corpus Regular"/>
              <a:cs typeface="ITC Motter Corpus Regular"/>
              <a:sym typeface="ITC Motter Corpus Regula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10094" cy="10287000"/>
            <a:chOff x="0" y="0"/>
            <a:chExt cx="476733" cy="27525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6733" cy="2752539"/>
            </a:xfrm>
            <a:custGeom>
              <a:avLst/>
              <a:gdLst/>
              <a:ahLst/>
              <a:cxnLst/>
              <a:rect l="l" t="t" r="r" b="b"/>
              <a:pathLst>
                <a:path w="476733" h="2752539">
                  <a:moveTo>
                    <a:pt x="0" y="0"/>
                  </a:moveTo>
                  <a:lnTo>
                    <a:pt x="476733" y="0"/>
                  </a:lnTo>
                  <a:lnTo>
                    <a:pt x="476733" y="2752539"/>
                  </a:lnTo>
                  <a:lnTo>
                    <a:pt x="0" y="2752539"/>
                  </a:lnTo>
                  <a:close/>
                </a:path>
              </a:pathLst>
            </a:custGeom>
            <a:solidFill>
              <a:srgbClr val="FF79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76733" cy="28096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33600" y="2631636"/>
            <a:ext cx="11039906" cy="44508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081"/>
              </a:lnSpc>
            </a:pPr>
            <a:r>
              <a:rPr lang="en-US" sz="4800" dirty="0">
                <a:solidFill>
                  <a:srgbClr val="38B6FF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WHAT ARE THE SITUATIONS IN COLLEGE OR LIFE AFTER +1 AND + 2  THAT MAKE YOU FEEL STRESSED OR  DOUBTFUL ABOUT YOURSELF</a:t>
            </a:r>
          </a:p>
        </p:txBody>
      </p:sp>
      <p:sp>
        <p:nvSpPr>
          <p:cNvPr id="6" name="Freeform 6"/>
          <p:cNvSpPr/>
          <p:nvPr/>
        </p:nvSpPr>
        <p:spPr>
          <a:xfrm>
            <a:off x="13437346" y="1169299"/>
            <a:ext cx="4047886" cy="7375508"/>
          </a:xfrm>
          <a:custGeom>
            <a:avLst/>
            <a:gdLst/>
            <a:ahLst/>
            <a:cxnLst/>
            <a:rect l="l" t="t" r="r" b="b"/>
            <a:pathLst>
              <a:path w="4047886" h="7375508">
                <a:moveTo>
                  <a:pt x="0" y="0"/>
                </a:moveTo>
                <a:lnTo>
                  <a:pt x="4047886" y="0"/>
                </a:lnTo>
                <a:lnTo>
                  <a:pt x="4047886" y="7375508"/>
                </a:lnTo>
                <a:lnTo>
                  <a:pt x="0" y="7375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366600" y="-8637747"/>
            <a:ext cx="1535749" cy="18288000"/>
            <a:chOff x="0" y="0"/>
            <a:chExt cx="404477" cy="4816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4477" cy="4816592"/>
            </a:xfrm>
            <a:custGeom>
              <a:avLst/>
              <a:gdLst/>
              <a:ahLst/>
              <a:cxnLst/>
              <a:rect l="l" t="t" r="r" b="b"/>
              <a:pathLst>
                <a:path w="404477" h="4816592">
                  <a:moveTo>
                    <a:pt x="0" y="0"/>
                  </a:moveTo>
                  <a:lnTo>
                    <a:pt x="404477" y="0"/>
                  </a:lnTo>
                  <a:lnTo>
                    <a:pt x="40447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04477" cy="4873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676" y="1562100"/>
            <a:ext cx="18135600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789"/>
              </a:lnSpc>
            </a:pPr>
            <a:r>
              <a:rPr lang="en-US" sz="6999" dirty="0">
                <a:solidFill>
                  <a:srgbClr val="FF7900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GOAL PRACTICE </a:t>
            </a:r>
          </a:p>
        </p:txBody>
      </p:sp>
      <p:pic>
        <p:nvPicPr>
          <p:cNvPr id="10242" name="Picture 2" descr="Wh questions | Baamboozle - Baamboozle | The Most Fun Classroom Games!">
            <a:extLst>
              <a:ext uri="{FF2B5EF4-FFF2-40B4-BE49-F238E27FC236}">
                <a16:creationId xmlns:a16="http://schemas.microsoft.com/office/drawing/2014/main" id="{88CBBAF1-0810-0A5E-3A13-9839A799C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787" y="2486025"/>
            <a:ext cx="7972425" cy="5314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F4A98-EE93-2353-20A5-D481A1EAD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437A679-10F8-871B-D462-50E31CC07798}"/>
              </a:ext>
            </a:extLst>
          </p:cNvPr>
          <p:cNvGrpSpPr/>
          <p:nvPr/>
        </p:nvGrpSpPr>
        <p:grpSpPr>
          <a:xfrm rot="5400000">
            <a:off x="8366600" y="-8637747"/>
            <a:ext cx="1535749" cy="18288000"/>
            <a:chOff x="0" y="0"/>
            <a:chExt cx="404477" cy="481659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25372B0-9676-115A-DFE1-32D095D6827E}"/>
                </a:ext>
              </a:extLst>
            </p:cNvPr>
            <p:cNvSpPr/>
            <p:nvPr/>
          </p:nvSpPr>
          <p:spPr>
            <a:xfrm>
              <a:off x="0" y="0"/>
              <a:ext cx="404477" cy="4816592"/>
            </a:xfrm>
            <a:custGeom>
              <a:avLst/>
              <a:gdLst/>
              <a:ahLst/>
              <a:cxnLst/>
              <a:rect l="l" t="t" r="r" b="b"/>
              <a:pathLst>
                <a:path w="404477" h="4816592">
                  <a:moveTo>
                    <a:pt x="0" y="0"/>
                  </a:moveTo>
                  <a:lnTo>
                    <a:pt x="404477" y="0"/>
                  </a:lnTo>
                  <a:lnTo>
                    <a:pt x="40447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64E156F-EE93-E33A-067A-E88F6714BE34}"/>
                </a:ext>
              </a:extLst>
            </p:cNvPr>
            <p:cNvSpPr txBox="1"/>
            <p:nvPr/>
          </p:nvSpPr>
          <p:spPr>
            <a:xfrm>
              <a:off x="0" y="-57150"/>
              <a:ext cx="404477" cy="4873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003900DF-1146-978A-230C-714A6D9F8FE4}"/>
              </a:ext>
            </a:extLst>
          </p:cNvPr>
          <p:cNvSpPr txBox="1"/>
          <p:nvPr/>
        </p:nvSpPr>
        <p:spPr>
          <a:xfrm>
            <a:off x="66676" y="1562100"/>
            <a:ext cx="18135600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789"/>
              </a:lnSpc>
            </a:pPr>
            <a:r>
              <a:rPr lang="en-US" sz="6999" dirty="0">
                <a:solidFill>
                  <a:srgbClr val="FF7900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GOAL PRACTICE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767BE4-F124-6D3E-B7F6-B0A722447DBB}"/>
              </a:ext>
            </a:extLst>
          </p:cNvPr>
          <p:cNvSpPr txBox="1"/>
          <p:nvPr/>
        </p:nvSpPr>
        <p:spPr>
          <a:xfrm>
            <a:off x="457200" y="3934718"/>
            <a:ext cx="84582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3200" dirty="0"/>
          </a:p>
          <a:p>
            <a:pPr>
              <a:buNone/>
            </a:pPr>
            <a:r>
              <a:rPr lang="en-US" sz="3200" b="1" dirty="0"/>
              <a:t>Who: Me</a:t>
            </a:r>
          </a:p>
          <a:p>
            <a:pPr>
              <a:buNone/>
            </a:pPr>
            <a:endParaRPr lang="en-US" sz="3200" b="1" dirty="0"/>
          </a:p>
          <a:p>
            <a:r>
              <a:rPr lang="en-US" sz="3200" b="1" dirty="0"/>
              <a:t>What: Meditate for 10 minutes</a:t>
            </a:r>
          </a:p>
          <a:p>
            <a:endParaRPr lang="en-US" sz="3200" b="1" dirty="0"/>
          </a:p>
          <a:p>
            <a:r>
              <a:rPr lang="en-US" sz="3200" b="1" dirty="0"/>
              <a:t>Where: In my room</a:t>
            </a:r>
          </a:p>
          <a:p>
            <a:endParaRPr lang="en-US" sz="3200" b="1" dirty="0"/>
          </a:p>
          <a:p>
            <a:r>
              <a:rPr lang="en-US" sz="3200" b="1" dirty="0"/>
              <a:t>Why: To reduce stress and stay focused</a:t>
            </a:r>
          </a:p>
          <a:p>
            <a:endParaRPr lang="en-US" sz="3200" b="1" dirty="0"/>
          </a:p>
          <a:p>
            <a:r>
              <a:rPr lang="en-US" sz="3200" b="1" dirty="0"/>
              <a:t>When: 5 AM every day</a:t>
            </a:r>
          </a:p>
          <a:p>
            <a:endParaRPr lang="en-US" sz="3200" b="1" dirty="0"/>
          </a:p>
          <a:p>
            <a:r>
              <a:rPr lang="en-US" sz="3200" b="1" dirty="0"/>
              <a:t>How: By sitting quietly, focusing on breathing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BBFB75-4F14-3A4B-44D7-8475A45A8B68}"/>
              </a:ext>
            </a:extLst>
          </p:cNvPr>
          <p:cNvSpPr txBox="1"/>
          <p:nvPr/>
        </p:nvSpPr>
        <p:spPr>
          <a:xfrm>
            <a:off x="304800" y="2857500"/>
            <a:ext cx="1789747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Example: I’ll meditate in my room for 10 minutes at 8 AM every day by</a:t>
            </a:r>
            <a:r>
              <a:rPr lang="en-US" sz="3200" b="1" dirty="0"/>
              <a:t> sitting quietly, focusing on breathing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 . </a:t>
            </a:r>
          </a:p>
        </p:txBody>
      </p:sp>
    </p:spTree>
    <p:extLst>
      <p:ext uri="{BB962C8B-B14F-4D97-AF65-F5344CB8AC3E}">
        <p14:creationId xmlns:p14="http://schemas.microsoft.com/office/powerpoint/2010/main" val="3299806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299449" y="-8350218"/>
            <a:ext cx="1689100" cy="18288002"/>
            <a:chOff x="0" y="0"/>
            <a:chExt cx="444866" cy="49317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866" cy="4931722"/>
            </a:xfrm>
            <a:custGeom>
              <a:avLst/>
              <a:gdLst/>
              <a:ahLst/>
              <a:cxnLst/>
              <a:rect l="l" t="t" r="r" b="b"/>
              <a:pathLst>
                <a:path w="444866" h="4931722">
                  <a:moveTo>
                    <a:pt x="0" y="0"/>
                  </a:moveTo>
                  <a:lnTo>
                    <a:pt x="444866" y="0"/>
                  </a:lnTo>
                  <a:lnTo>
                    <a:pt x="444866" y="4931722"/>
                  </a:lnTo>
                  <a:lnTo>
                    <a:pt x="0" y="4931722"/>
                  </a:lnTo>
                  <a:close/>
                </a:path>
              </a:pathLst>
            </a:custGeom>
            <a:solidFill>
              <a:srgbClr val="00A2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4866" cy="49888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777998" y="461008"/>
            <a:ext cx="7667625" cy="751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35"/>
              </a:lnSpc>
            </a:pPr>
            <a:r>
              <a:rPr lang="en-US" sz="5500">
                <a:solidFill>
                  <a:srgbClr val="FFFFFF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WOOP </a:t>
            </a:r>
          </a:p>
        </p:txBody>
      </p:sp>
      <p:pic>
        <p:nvPicPr>
          <p:cNvPr id="1030" name="Picture 6" descr="WOOP Templates for Elementary Students with Link to Resources | TPT">
            <a:extLst>
              <a:ext uri="{FF2B5EF4-FFF2-40B4-BE49-F238E27FC236}">
                <a16:creationId xmlns:a16="http://schemas.microsoft.com/office/drawing/2014/main" id="{2CFFE0BB-7317-4388-AE4B-E35DF88B87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897" b="6224"/>
          <a:stretch>
            <a:fillRect/>
          </a:stretch>
        </p:blipFill>
        <p:spPr bwMode="auto">
          <a:xfrm>
            <a:off x="1600200" y="2150108"/>
            <a:ext cx="14754569" cy="701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74" y="-19130"/>
            <a:ext cx="914400" cy="10306130"/>
            <a:chOff x="0" y="-57150"/>
            <a:chExt cx="476733" cy="2809689"/>
          </a:xfrm>
        </p:grpSpPr>
        <p:sp>
          <p:nvSpPr>
            <p:cNvPr id="3" name="Freeform 3"/>
            <p:cNvSpPr/>
            <p:nvPr/>
          </p:nvSpPr>
          <p:spPr>
            <a:xfrm>
              <a:off x="0" y="-51935"/>
              <a:ext cx="476733" cy="2804474"/>
            </a:xfrm>
            <a:custGeom>
              <a:avLst/>
              <a:gdLst/>
              <a:ahLst/>
              <a:cxnLst/>
              <a:rect l="l" t="t" r="r" b="b"/>
              <a:pathLst>
                <a:path w="476733" h="2752539">
                  <a:moveTo>
                    <a:pt x="0" y="0"/>
                  </a:moveTo>
                  <a:lnTo>
                    <a:pt x="476733" y="0"/>
                  </a:lnTo>
                  <a:lnTo>
                    <a:pt x="476733" y="2752539"/>
                  </a:lnTo>
                  <a:lnTo>
                    <a:pt x="0" y="2752539"/>
                  </a:lnTo>
                  <a:close/>
                </a:path>
              </a:pathLst>
            </a:custGeom>
            <a:solidFill>
              <a:srgbClr val="FFA65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76733" cy="28096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820400" y="571500"/>
            <a:ext cx="7121607" cy="5213449"/>
          </a:xfrm>
          <a:custGeom>
            <a:avLst/>
            <a:gdLst/>
            <a:ahLst/>
            <a:cxnLst/>
            <a:rect l="l" t="t" r="r" b="b"/>
            <a:pathLst>
              <a:path w="7121607" h="5213449">
                <a:moveTo>
                  <a:pt x="0" y="0"/>
                </a:moveTo>
                <a:lnTo>
                  <a:pt x="7121607" y="0"/>
                </a:lnTo>
                <a:lnTo>
                  <a:pt x="7121607" y="5213449"/>
                </a:lnTo>
                <a:lnTo>
                  <a:pt x="0" y="5213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31" r="-4277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22887" y="795400"/>
            <a:ext cx="9296400" cy="5924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299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Garet"/>
                <a:sym typeface="Garet"/>
              </a:rPr>
              <a:t>Born into poverty &amp; caste discrimination → Felt hopeless → even attempted suicide.</a:t>
            </a:r>
          </a:p>
          <a:p>
            <a:pPr marL="457200" indent="-457200" algn="l">
              <a:lnSpc>
                <a:spcPts val="3299"/>
              </a:lnSpc>
              <a:buFont typeface="Arial" panose="020B0604020202020204" pitchFamily="34" charset="0"/>
              <a:buChar char="•"/>
            </a:pPr>
            <a:endParaRPr lang="en-US" sz="3200" dirty="0">
              <a:latin typeface="Cambria" panose="02040503050406030204" pitchFamily="18" charset="0"/>
              <a:ea typeface="Cambria" panose="02040503050406030204" pitchFamily="18" charset="0"/>
              <a:cs typeface="Garet"/>
              <a:sym typeface="Garet"/>
            </a:endParaRPr>
          </a:p>
          <a:p>
            <a:pPr marL="457200" indent="-457200" algn="l">
              <a:lnSpc>
                <a:spcPts val="3299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Garet"/>
                <a:sym typeface="Garet"/>
              </a:rPr>
              <a:t>Restarted at 16 → Worked as a tailor for ₹2/day → built resilience.</a:t>
            </a:r>
          </a:p>
          <a:p>
            <a:pPr marL="457200" indent="-457200" algn="l">
              <a:lnSpc>
                <a:spcPts val="3299"/>
              </a:lnSpc>
              <a:buFont typeface="Arial" panose="020B0604020202020204" pitchFamily="34" charset="0"/>
              <a:buChar char="•"/>
            </a:pPr>
            <a:endParaRPr lang="en-US" sz="3200" dirty="0">
              <a:latin typeface="Cambria" panose="02040503050406030204" pitchFamily="18" charset="0"/>
              <a:ea typeface="Cambria" panose="02040503050406030204" pitchFamily="18" charset="0"/>
              <a:cs typeface="Garet"/>
              <a:sym typeface="Garet"/>
            </a:endParaRPr>
          </a:p>
          <a:p>
            <a:pPr marL="457200" indent="-457200" algn="l">
              <a:lnSpc>
                <a:spcPts val="3299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Garet"/>
                <a:sym typeface="Garet"/>
              </a:rPr>
              <a:t>Saw opportunity → Took government loans → started furniture business.</a:t>
            </a:r>
          </a:p>
          <a:p>
            <a:pPr marL="457200" indent="-457200" algn="l">
              <a:lnSpc>
                <a:spcPts val="3299"/>
              </a:lnSpc>
              <a:buFont typeface="Arial" panose="020B0604020202020204" pitchFamily="34" charset="0"/>
              <a:buChar char="•"/>
            </a:pPr>
            <a:endParaRPr lang="en-US" sz="3200" dirty="0">
              <a:latin typeface="Cambria" panose="02040503050406030204" pitchFamily="18" charset="0"/>
              <a:ea typeface="Cambria" panose="02040503050406030204" pitchFamily="18" charset="0"/>
              <a:cs typeface="Garet"/>
              <a:sym typeface="Garet"/>
            </a:endParaRPr>
          </a:p>
          <a:p>
            <a:pPr marL="457200" indent="-457200" algn="l">
              <a:lnSpc>
                <a:spcPts val="3299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Garet"/>
                <a:sym typeface="Garet"/>
              </a:rPr>
              <a:t>Persistence &amp; Growth Mindset → Turned around Kamani Tubes (a bankrupt company).</a:t>
            </a:r>
          </a:p>
          <a:p>
            <a:pPr marL="457200" indent="-457200" algn="l">
              <a:lnSpc>
                <a:spcPts val="3299"/>
              </a:lnSpc>
              <a:buFont typeface="Arial" panose="020B0604020202020204" pitchFamily="34" charset="0"/>
              <a:buChar char="•"/>
            </a:pPr>
            <a:endParaRPr lang="en-US" sz="3200" dirty="0">
              <a:latin typeface="Cambria" panose="02040503050406030204" pitchFamily="18" charset="0"/>
              <a:ea typeface="Cambria" panose="02040503050406030204" pitchFamily="18" charset="0"/>
              <a:cs typeface="Garet"/>
              <a:sym typeface="Garet"/>
            </a:endParaRPr>
          </a:p>
          <a:p>
            <a:pPr marL="457200" indent="-457200" algn="l">
              <a:lnSpc>
                <a:spcPts val="3299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Garet"/>
                <a:sym typeface="Garet"/>
              </a:rPr>
              <a:t>Today → A Padma Shri awardee, IIM governor, worth ₹2000+ crores.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01400" y="6057900"/>
            <a:ext cx="6740607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238"/>
              </a:lnSpc>
            </a:pPr>
            <a:r>
              <a:rPr lang="en-US" sz="5400">
                <a:solidFill>
                  <a:srgbClr val="38B6FF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KALPANA SAROJ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143000" cy="10287000"/>
            <a:chOff x="0" y="0"/>
            <a:chExt cx="476733" cy="27525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6733" cy="2752539"/>
            </a:xfrm>
            <a:custGeom>
              <a:avLst/>
              <a:gdLst/>
              <a:ahLst/>
              <a:cxnLst/>
              <a:rect l="l" t="t" r="r" b="b"/>
              <a:pathLst>
                <a:path w="476733" h="2752539">
                  <a:moveTo>
                    <a:pt x="0" y="0"/>
                  </a:moveTo>
                  <a:lnTo>
                    <a:pt x="476733" y="0"/>
                  </a:lnTo>
                  <a:lnTo>
                    <a:pt x="476733" y="2752539"/>
                  </a:lnTo>
                  <a:lnTo>
                    <a:pt x="0" y="2752539"/>
                  </a:lnTo>
                  <a:close/>
                </a:path>
              </a:pathLst>
            </a:custGeom>
            <a:solidFill>
              <a:srgbClr val="FFA65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76733" cy="28096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201400" y="587386"/>
            <a:ext cx="6210443" cy="6210443"/>
          </a:xfrm>
          <a:custGeom>
            <a:avLst/>
            <a:gdLst/>
            <a:ahLst/>
            <a:cxnLst/>
            <a:rect l="l" t="t" r="r" b="b"/>
            <a:pathLst>
              <a:path w="6210443" h="6210443">
                <a:moveTo>
                  <a:pt x="0" y="0"/>
                </a:moveTo>
                <a:lnTo>
                  <a:pt x="6210444" y="0"/>
                </a:lnTo>
                <a:lnTo>
                  <a:pt x="6210444" y="6210444"/>
                </a:lnTo>
                <a:lnTo>
                  <a:pt x="0" y="6210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71600" y="483076"/>
            <a:ext cx="9829799" cy="91274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299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65169"/>
              </a:solidFill>
              <a:latin typeface="Cambria" panose="02040503050406030204" pitchFamily="18" charset="0"/>
              <a:ea typeface="Cambria" panose="02040503050406030204" pitchFamily="18" charset="0"/>
              <a:cs typeface="Garet"/>
              <a:sym typeface="Gare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Born 1972 in Mumbai, trained under Ramakant Achrekar with Sachin.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Broke records — double centuries, highest batting average at one point.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Fame, money, and flashy lifestyle took over.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When form declined, instead of adapting or training harder, he blamed others.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Career faded while Sachin kept rising.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65169"/>
              </a:solidFill>
              <a:latin typeface="Cambria" panose="02040503050406030204" pitchFamily="18" charset="0"/>
              <a:ea typeface="Cambria" panose="02040503050406030204" pitchFamily="18" charset="0"/>
              <a:cs typeface="Garet"/>
              <a:sym typeface="Garet"/>
            </a:endParaRPr>
          </a:p>
          <a:p>
            <a:r>
              <a:rPr lang="en-US" sz="3200" dirty="0"/>
              <a:t>“Early success can make you famous, but only discipline and learning can make you unforgettable. Don’t stop when you shine — keep sharpening.”</a:t>
            </a:r>
            <a:endParaRPr lang="en-US" sz="3200" dirty="0">
              <a:solidFill>
                <a:srgbClr val="065169"/>
              </a:solidFill>
              <a:latin typeface="Cambria" panose="02040503050406030204" pitchFamily="18" charset="0"/>
              <a:ea typeface="Cambria" panose="02040503050406030204" pitchFamily="18" charset="0"/>
              <a:cs typeface="Garet"/>
              <a:sym typeface="Garet"/>
            </a:endParaRPr>
          </a:p>
          <a:p>
            <a:pPr algn="l">
              <a:lnSpc>
                <a:spcPts val="3299"/>
              </a:lnSpc>
            </a:pPr>
            <a:endParaRPr lang="en-US" sz="2199" dirty="0">
              <a:solidFill>
                <a:srgbClr val="065169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299"/>
              </a:lnSpc>
              <a:spcBef>
                <a:spcPct val="0"/>
              </a:spcBef>
            </a:pPr>
            <a:endParaRPr lang="en-US" sz="2199" dirty="0">
              <a:solidFill>
                <a:srgbClr val="065169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201400" y="6902141"/>
            <a:ext cx="6210443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238"/>
              </a:lnSpc>
            </a:pPr>
            <a:r>
              <a:rPr lang="en-US" sz="5400" dirty="0">
                <a:solidFill>
                  <a:srgbClr val="38B6FF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VINOD KAMBLI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64045"/>
            <a:ext cx="1810094" cy="10451045"/>
            <a:chOff x="0" y="0"/>
            <a:chExt cx="476733" cy="27525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6733" cy="2752539"/>
            </a:xfrm>
            <a:custGeom>
              <a:avLst/>
              <a:gdLst/>
              <a:ahLst/>
              <a:cxnLst/>
              <a:rect l="l" t="t" r="r" b="b"/>
              <a:pathLst>
                <a:path w="476733" h="2752539">
                  <a:moveTo>
                    <a:pt x="0" y="0"/>
                  </a:moveTo>
                  <a:lnTo>
                    <a:pt x="476733" y="0"/>
                  </a:lnTo>
                  <a:lnTo>
                    <a:pt x="476733" y="2752539"/>
                  </a:lnTo>
                  <a:lnTo>
                    <a:pt x="0" y="2752539"/>
                  </a:lnTo>
                  <a:close/>
                </a:path>
              </a:pathLst>
            </a:custGeom>
            <a:solidFill>
              <a:srgbClr val="FFA65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76733" cy="28096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125200" y="419100"/>
            <a:ext cx="6750518" cy="5029200"/>
          </a:xfrm>
          <a:custGeom>
            <a:avLst/>
            <a:gdLst/>
            <a:ahLst/>
            <a:cxnLst/>
            <a:rect l="l" t="t" r="r" b="b"/>
            <a:pathLst>
              <a:path w="7599520" h="5175410">
                <a:moveTo>
                  <a:pt x="0" y="0"/>
                </a:moveTo>
                <a:lnTo>
                  <a:pt x="7599520" y="0"/>
                </a:lnTo>
                <a:lnTo>
                  <a:pt x="7599520" y="5175411"/>
                </a:lnTo>
                <a:lnTo>
                  <a:pt x="0" y="51754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220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139813" y="647700"/>
            <a:ext cx="8837926" cy="8019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329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65169"/>
                </a:solidFill>
                <a:latin typeface="Cambria" panose="02040503050406030204" pitchFamily="18" charset="0"/>
                <a:ea typeface="Cambria" panose="02040503050406030204" pitchFamily="18" charset="0"/>
                <a:cs typeface="Garet"/>
                <a:sym typeface="Garet"/>
              </a:rPr>
              <a:t>Founded Satyam in 1987; by early 2000s, it was one of India’s biggest IT companies.</a:t>
            </a:r>
          </a:p>
          <a:p>
            <a:pPr marL="342900" indent="-342900" algn="l">
              <a:lnSpc>
                <a:spcPts val="329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65169"/>
                </a:solidFill>
                <a:latin typeface="Cambria" panose="02040503050406030204" pitchFamily="18" charset="0"/>
                <a:ea typeface="Cambria" panose="02040503050406030204" pitchFamily="18" charset="0"/>
                <a:cs typeface="Garet"/>
                <a:sym typeface="Garet"/>
              </a:rPr>
              <a:t>Feared losing reputation and resisted transparency.</a:t>
            </a:r>
          </a:p>
          <a:p>
            <a:pPr marL="342900" indent="-342900" algn="l">
              <a:lnSpc>
                <a:spcPts val="329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65169"/>
                </a:solidFill>
                <a:latin typeface="Cambria" panose="02040503050406030204" pitchFamily="18" charset="0"/>
                <a:ea typeface="Cambria" panose="02040503050406030204" pitchFamily="18" charset="0"/>
                <a:cs typeface="Garet"/>
                <a:sym typeface="Garet"/>
              </a:rPr>
              <a:t>Mistake: Instead of being honest about slower growth, he faked numbers.</a:t>
            </a:r>
          </a:p>
          <a:p>
            <a:pPr marL="342900" indent="-342900" algn="l">
              <a:lnSpc>
                <a:spcPts val="329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65169"/>
                </a:solidFill>
                <a:latin typeface="Cambria" panose="02040503050406030204" pitchFamily="18" charset="0"/>
                <a:ea typeface="Cambria" panose="02040503050406030204" pitchFamily="18" charset="0"/>
                <a:cs typeface="Garet"/>
                <a:sym typeface="Garet"/>
              </a:rPr>
              <a:t>Impact: Company collapsed → employees, families, and investors all suffered.</a:t>
            </a:r>
          </a:p>
          <a:p>
            <a:pPr algn="l">
              <a:lnSpc>
                <a:spcPts val="3299"/>
              </a:lnSpc>
            </a:pPr>
            <a:endParaRPr lang="en-US" sz="2800" dirty="0">
              <a:solidFill>
                <a:srgbClr val="065169"/>
              </a:solidFill>
              <a:latin typeface="Cambria" panose="02040503050406030204" pitchFamily="18" charset="0"/>
              <a:ea typeface="Cambria" panose="02040503050406030204" pitchFamily="18" charset="0"/>
              <a:cs typeface="Garet"/>
              <a:sym typeface="Garet"/>
            </a:endParaRPr>
          </a:p>
          <a:p>
            <a:pPr algn="l">
              <a:lnSpc>
                <a:spcPts val="3299"/>
              </a:lnSpc>
            </a:pPr>
            <a:r>
              <a:rPr lang="en-US" sz="2800" b="1" dirty="0">
                <a:solidFill>
                  <a:srgbClr val="065169"/>
                </a:solidFill>
                <a:latin typeface="Cambria" panose="02040503050406030204" pitchFamily="18" charset="0"/>
                <a:ea typeface="Cambria" panose="02040503050406030204" pitchFamily="18" charset="0"/>
                <a:cs typeface="Garet"/>
                <a:sym typeface="Garet"/>
              </a:rPr>
              <a:t>Fixed Mindset vs. Growth Mindset</a:t>
            </a:r>
          </a:p>
          <a:p>
            <a:pPr algn="l">
              <a:lnSpc>
                <a:spcPts val="3299"/>
              </a:lnSpc>
            </a:pPr>
            <a:r>
              <a:rPr lang="en-US" sz="2800" dirty="0">
                <a:solidFill>
                  <a:srgbClr val="065169"/>
                </a:solidFill>
                <a:latin typeface="Cambria" panose="02040503050406030204" pitchFamily="18" charset="0"/>
                <a:ea typeface="Cambria" panose="02040503050406030204" pitchFamily="18" charset="0"/>
                <a:cs typeface="Garet"/>
                <a:sym typeface="Garet"/>
              </a:rPr>
              <a:t>Raju feared admitting weakness → fixed mindset (“I must look perfect”).</a:t>
            </a:r>
          </a:p>
          <a:p>
            <a:pPr algn="l">
              <a:lnSpc>
                <a:spcPts val="3299"/>
              </a:lnSpc>
            </a:pPr>
            <a:endParaRPr lang="en-US" sz="2800" dirty="0">
              <a:solidFill>
                <a:srgbClr val="065169"/>
              </a:solidFill>
              <a:latin typeface="Cambria" panose="02040503050406030204" pitchFamily="18" charset="0"/>
              <a:ea typeface="Cambria" panose="02040503050406030204" pitchFamily="18" charset="0"/>
              <a:cs typeface="Garet"/>
              <a:sym typeface="Garet"/>
            </a:endParaRPr>
          </a:p>
          <a:p>
            <a:pPr algn="l">
              <a:lnSpc>
                <a:spcPts val="3299"/>
              </a:lnSpc>
            </a:pPr>
            <a:r>
              <a:rPr lang="en-US" sz="2800" dirty="0">
                <a:solidFill>
                  <a:srgbClr val="065169"/>
                </a:solidFill>
                <a:latin typeface="Cambria" panose="02040503050406030204" pitchFamily="18" charset="0"/>
                <a:ea typeface="Cambria" panose="02040503050406030204" pitchFamily="18" charset="0"/>
                <a:cs typeface="Garet"/>
                <a:sym typeface="Garet"/>
              </a:rPr>
              <a:t>A growth mindset would have said: “Slower growth is a chance to rethink, restructure, and improve.”</a:t>
            </a:r>
          </a:p>
          <a:p>
            <a:pPr algn="l">
              <a:lnSpc>
                <a:spcPts val="3299"/>
              </a:lnSpc>
            </a:pPr>
            <a:endParaRPr lang="en-US" sz="2800" dirty="0">
              <a:solidFill>
                <a:srgbClr val="065169"/>
              </a:solidFill>
              <a:latin typeface="Cambria" panose="02040503050406030204" pitchFamily="18" charset="0"/>
              <a:ea typeface="Cambria" panose="02040503050406030204" pitchFamily="18" charset="0"/>
              <a:cs typeface="Garet"/>
              <a:sym typeface="Garet"/>
            </a:endParaRPr>
          </a:p>
          <a:p>
            <a:pPr algn="l">
              <a:lnSpc>
                <a:spcPts val="3299"/>
              </a:lnSpc>
            </a:pPr>
            <a:r>
              <a:rPr lang="en-US" sz="2800" dirty="0">
                <a:solidFill>
                  <a:srgbClr val="065169"/>
                </a:solidFill>
                <a:latin typeface="Cambria" panose="02040503050406030204" pitchFamily="18" charset="0"/>
                <a:ea typeface="Cambria" panose="02040503050406030204" pitchFamily="18" charset="0"/>
                <a:cs typeface="Garet"/>
                <a:sym typeface="Garet"/>
              </a:rPr>
              <a:t>Student Reflection: “When I get poor marks or rejection, do I fake confidence and blame others like Raju, or do I learn and adapt?”</a:t>
            </a:r>
          </a:p>
          <a:p>
            <a:pPr algn="l">
              <a:lnSpc>
                <a:spcPts val="3299"/>
              </a:lnSpc>
              <a:spcBef>
                <a:spcPct val="0"/>
              </a:spcBef>
            </a:pPr>
            <a:endParaRPr lang="en-US" sz="2199" dirty="0">
              <a:solidFill>
                <a:srgbClr val="065169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830278" y="5444613"/>
            <a:ext cx="7457722" cy="5840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238"/>
              </a:lnSpc>
            </a:pPr>
            <a:r>
              <a:rPr lang="en-US" sz="3200" dirty="0">
                <a:solidFill>
                  <a:srgbClr val="38B6FF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SATYAM COMPUTER SERVICES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B47703-5A8C-4B9F-83B6-0F2A3D5C00F9}"/>
              </a:ext>
            </a:extLst>
          </p:cNvPr>
          <p:cNvSpPr txBox="1"/>
          <p:nvPr/>
        </p:nvSpPr>
        <p:spPr>
          <a:xfrm>
            <a:off x="2061099" y="8935004"/>
            <a:ext cx="15922102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1800" dirty="0">
                <a:solidFill>
                  <a:srgbClr val="065169"/>
                </a:solidFill>
                <a:latin typeface="Garet"/>
                <a:ea typeface="Garet"/>
                <a:cs typeface="Garet"/>
                <a:sym typeface="Garet"/>
              </a:rPr>
              <a:t>“</a:t>
            </a:r>
            <a:r>
              <a:rPr lang="en-US" sz="3200" dirty="0">
                <a:solidFill>
                  <a:srgbClr val="065169"/>
                </a:solidFill>
                <a:latin typeface="Cambria" panose="02040503050406030204" pitchFamily="18" charset="0"/>
                <a:ea typeface="Cambria" panose="02040503050406030204" pitchFamily="18" charset="0"/>
                <a:cs typeface="Garet"/>
                <a:sym typeface="Garet"/>
              </a:rPr>
              <a:t>Ramalinga Raju lost everything because he wanted to look perfect instead of being real. In life, honesty + growth mindset = long-term success.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" cy="10287000"/>
            <a:chOff x="0" y="0"/>
            <a:chExt cx="404728" cy="27525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4728" cy="2752539"/>
            </a:xfrm>
            <a:custGeom>
              <a:avLst/>
              <a:gdLst/>
              <a:ahLst/>
              <a:cxnLst/>
              <a:rect l="l" t="t" r="r" b="b"/>
              <a:pathLst>
                <a:path w="404728" h="2752539">
                  <a:moveTo>
                    <a:pt x="0" y="0"/>
                  </a:moveTo>
                  <a:lnTo>
                    <a:pt x="404728" y="0"/>
                  </a:lnTo>
                  <a:lnTo>
                    <a:pt x="404728" y="2752539"/>
                  </a:lnTo>
                  <a:lnTo>
                    <a:pt x="0" y="2752539"/>
                  </a:lnTo>
                  <a:close/>
                </a:path>
              </a:pathLst>
            </a:custGeom>
            <a:solidFill>
              <a:srgbClr val="00A2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04728" cy="28096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71600" y="1257300"/>
            <a:ext cx="16687799" cy="8527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491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nva Sans Bold"/>
                <a:sym typeface="Canva Sans Bold"/>
              </a:rPr>
              <a:t>Cells renew in days to years (skin → 30 days, blood → 120 days, etc.)</a:t>
            </a:r>
          </a:p>
          <a:p>
            <a:pPr marL="457200" indent="-457200" algn="l">
              <a:lnSpc>
                <a:spcPts val="3491"/>
              </a:lnSpc>
              <a:buFont typeface="Arial" panose="020B0604020202020204" pitchFamily="34" charset="0"/>
              <a:buChar char="•"/>
            </a:pPr>
            <a:endParaRPr lang="en-US" sz="3200" dirty="0">
              <a:latin typeface="Cambria" panose="02040503050406030204" pitchFamily="18" charset="0"/>
              <a:ea typeface="Cambria" panose="02040503050406030204" pitchFamily="18" charset="0"/>
              <a:cs typeface="Canva Sans Bold"/>
              <a:sym typeface="Canva Sans Bold"/>
            </a:endParaRPr>
          </a:p>
          <a:p>
            <a:pPr marL="457200" indent="-457200" algn="l">
              <a:lnSpc>
                <a:spcPts val="3491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nva Sans Bold"/>
                <a:sym typeface="Canva Sans Bold"/>
              </a:rPr>
              <a:t>Habits take 18–254 days depending on difficulty (average 66 days).</a:t>
            </a:r>
          </a:p>
          <a:p>
            <a:pPr marL="457200" indent="-457200" algn="l">
              <a:lnSpc>
                <a:spcPts val="3491"/>
              </a:lnSpc>
              <a:buFont typeface="Arial" panose="020B0604020202020204" pitchFamily="34" charset="0"/>
              <a:buChar char="•"/>
            </a:pPr>
            <a:endParaRPr lang="en-US" sz="3200" dirty="0">
              <a:latin typeface="Cambria" panose="02040503050406030204" pitchFamily="18" charset="0"/>
              <a:ea typeface="Cambria" panose="02040503050406030204" pitchFamily="18" charset="0"/>
              <a:cs typeface="Canva Sans Bold"/>
              <a:sym typeface="Canva Sans Bold"/>
            </a:endParaRPr>
          </a:p>
          <a:p>
            <a:pPr marL="457200" indent="-457200" algn="l">
              <a:lnSpc>
                <a:spcPts val="3491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nva Sans Bold"/>
                <a:sym typeface="Canva Sans Bold"/>
              </a:rPr>
              <a:t>Skills can show visible progress in just 20 hours of focused practice (≈ 45 min/day for 1 month).</a:t>
            </a:r>
          </a:p>
          <a:p>
            <a:pPr algn="ctr">
              <a:lnSpc>
                <a:spcPts val="3491"/>
              </a:lnSpc>
            </a:pPr>
            <a:endParaRPr lang="en-US" sz="3200" dirty="0">
              <a:latin typeface="Cambria" panose="02040503050406030204" pitchFamily="18" charset="0"/>
              <a:ea typeface="Cambria" panose="02040503050406030204" pitchFamily="18" charset="0"/>
              <a:cs typeface="Canva Sans Bold"/>
              <a:sym typeface="Canva Sans Bold"/>
            </a:endParaRPr>
          </a:p>
          <a:p>
            <a:pPr>
              <a:lnSpc>
                <a:spcPts val="3491"/>
              </a:lnSpc>
            </a:pPr>
            <a:r>
              <a:rPr lang="en-US" sz="3200" u="none" dirty="0">
                <a:latin typeface="Cambria" panose="02040503050406030204" pitchFamily="18" charset="0"/>
                <a:ea typeface="Cambria" panose="02040503050406030204" pitchFamily="18" charset="0"/>
                <a:cs typeface="Canva Sans"/>
                <a:sym typeface="Canva Sans Bold"/>
              </a:rPr>
              <a:t>Wish: New skill or habit I want (coding, confidence, fitness).</a:t>
            </a:r>
          </a:p>
          <a:p>
            <a:pPr>
              <a:lnSpc>
                <a:spcPts val="3491"/>
              </a:lnSpc>
            </a:pPr>
            <a:endParaRPr lang="en-US" sz="3200" u="none" dirty="0">
              <a:latin typeface="Cambria" panose="02040503050406030204" pitchFamily="18" charset="0"/>
              <a:ea typeface="Cambria" panose="02040503050406030204" pitchFamily="18" charset="0"/>
              <a:cs typeface="Canva Sans"/>
              <a:sym typeface="Canva Sans Bold"/>
            </a:endParaRPr>
          </a:p>
          <a:p>
            <a:pPr>
              <a:lnSpc>
                <a:spcPts val="3491"/>
              </a:lnSpc>
            </a:pPr>
            <a:r>
              <a:rPr lang="en-US" sz="3200" u="none" dirty="0">
                <a:latin typeface="Cambria" panose="02040503050406030204" pitchFamily="18" charset="0"/>
                <a:ea typeface="Cambria" panose="02040503050406030204" pitchFamily="18" charset="0"/>
                <a:cs typeface="Canva Sans"/>
                <a:sym typeface="Canva Sans Bold"/>
              </a:rPr>
              <a:t>Outcome: What will change in 30 / 60 / 120 days.</a:t>
            </a:r>
          </a:p>
          <a:p>
            <a:pPr>
              <a:lnSpc>
                <a:spcPts val="3491"/>
              </a:lnSpc>
            </a:pPr>
            <a:endParaRPr lang="en-US" sz="3200" u="none" dirty="0">
              <a:latin typeface="Cambria" panose="02040503050406030204" pitchFamily="18" charset="0"/>
              <a:ea typeface="Cambria" panose="02040503050406030204" pitchFamily="18" charset="0"/>
              <a:cs typeface="Canva Sans"/>
              <a:sym typeface="Canva Sans Bold"/>
            </a:endParaRPr>
          </a:p>
          <a:p>
            <a:pPr>
              <a:lnSpc>
                <a:spcPts val="3491"/>
              </a:lnSpc>
            </a:pPr>
            <a:r>
              <a:rPr lang="en-US" sz="3200" u="none" dirty="0">
                <a:latin typeface="Cambria" panose="02040503050406030204" pitchFamily="18" charset="0"/>
                <a:ea typeface="Cambria" panose="02040503050406030204" pitchFamily="18" charset="0"/>
                <a:cs typeface="Canva Sans"/>
                <a:sym typeface="Canva Sans Bold"/>
              </a:rPr>
              <a:t>Obstacle: What may block me.</a:t>
            </a:r>
          </a:p>
          <a:p>
            <a:pPr>
              <a:lnSpc>
                <a:spcPts val="3491"/>
              </a:lnSpc>
            </a:pPr>
            <a:endParaRPr lang="en-US" sz="3200" u="none" dirty="0">
              <a:latin typeface="Cambria" panose="02040503050406030204" pitchFamily="18" charset="0"/>
              <a:ea typeface="Cambria" panose="02040503050406030204" pitchFamily="18" charset="0"/>
              <a:cs typeface="Canva Sans"/>
              <a:sym typeface="Canva Sans Bold"/>
            </a:endParaRPr>
          </a:p>
          <a:p>
            <a:pPr>
              <a:lnSpc>
                <a:spcPts val="3491"/>
              </a:lnSpc>
            </a:pPr>
            <a:r>
              <a:rPr lang="en-US" sz="3200" u="none" dirty="0">
                <a:latin typeface="Cambria" panose="02040503050406030204" pitchFamily="18" charset="0"/>
                <a:ea typeface="Cambria" panose="02040503050406030204" pitchFamily="18" charset="0"/>
                <a:cs typeface="Canva Sans"/>
                <a:sym typeface="Canva Sans Bold"/>
              </a:rPr>
              <a:t>Plan: First baby step (like 20 mins/day).</a:t>
            </a:r>
          </a:p>
          <a:p>
            <a:pPr>
              <a:lnSpc>
                <a:spcPts val="3491"/>
              </a:lnSpc>
            </a:pPr>
            <a:endParaRPr lang="en-US" sz="3200" dirty="0">
              <a:latin typeface="Cambria" panose="02040503050406030204" pitchFamily="18" charset="0"/>
              <a:ea typeface="Cambria" panose="02040503050406030204" pitchFamily="18" charset="0"/>
              <a:cs typeface="Canva Sans"/>
              <a:sym typeface="Canva Sans Bold"/>
            </a:endParaRPr>
          </a:p>
          <a:p>
            <a:pPr>
              <a:lnSpc>
                <a:spcPts val="3491"/>
              </a:lnSpc>
            </a:pPr>
            <a:endParaRPr lang="en-US" sz="3200" u="none" dirty="0">
              <a:latin typeface="Cambria" panose="02040503050406030204" pitchFamily="18" charset="0"/>
              <a:ea typeface="Cambria" panose="02040503050406030204" pitchFamily="18" charset="0"/>
              <a:cs typeface="Canva Sans"/>
              <a:sym typeface="Canva Sans Bold"/>
            </a:endParaRPr>
          </a:p>
          <a:p>
            <a:pPr algn="ctr">
              <a:lnSpc>
                <a:spcPts val="3491"/>
              </a:lnSpc>
            </a:pP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  <a:cs typeface="Canva Sans Bold"/>
                <a:sym typeface="Canva Sans Bold"/>
              </a:rPr>
              <a:t>Change is not instant, but it is biological and scientific. If your body renews, your mind &amp; habits can too.</a:t>
            </a:r>
          </a:p>
          <a:p>
            <a:pPr>
              <a:lnSpc>
                <a:spcPts val="3491"/>
              </a:lnSpc>
            </a:pPr>
            <a:endParaRPr lang="en-US" sz="3200" u="none" dirty="0">
              <a:latin typeface="Cambria" panose="02040503050406030204" pitchFamily="18" charset="0"/>
              <a:ea typeface="Cambria" panose="02040503050406030204" pitchFamily="18" charset="0"/>
              <a:cs typeface="Canva Sans"/>
              <a:sym typeface="Canva Sans 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3D5E00-ABF5-91F4-D15F-244979F567A4}"/>
              </a:ext>
            </a:extLst>
          </p:cNvPr>
          <p:cNvSpPr txBox="1"/>
          <p:nvPr/>
        </p:nvSpPr>
        <p:spPr>
          <a:xfrm>
            <a:off x="2971800" y="876300"/>
            <a:ext cx="12115800" cy="745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36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Positive Affirmations</a:t>
            </a:r>
            <a:br>
              <a:rPr lang="en-IN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IN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am capable of learning and growing every day.</a:t>
            </a:r>
          </a:p>
          <a:p>
            <a:pPr marL="342900" lvl="0" indent="-342900" algn="ctr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IN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trust myself to handle challenges with strength.</a:t>
            </a:r>
          </a:p>
          <a:p>
            <a:pPr marL="342900" lvl="0" indent="-342900" algn="ctr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IN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 efforts today are shaping my brighter tomorrow.</a:t>
            </a:r>
          </a:p>
          <a:p>
            <a:pPr marL="342900" lvl="0" indent="-342900" algn="ctr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am improving every single day.</a:t>
            </a:r>
            <a:endParaRPr lang="en-IN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7785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536700" cy="10287000"/>
            <a:chOff x="0" y="0"/>
            <a:chExt cx="404728" cy="27525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4728" cy="2752539"/>
            </a:xfrm>
            <a:custGeom>
              <a:avLst/>
              <a:gdLst/>
              <a:ahLst/>
              <a:cxnLst/>
              <a:rect l="l" t="t" r="r" b="b"/>
              <a:pathLst>
                <a:path w="404728" h="2752539">
                  <a:moveTo>
                    <a:pt x="0" y="0"/>
                  </a:moveTo>
                  <a:lnTo>
                    <a:pt x="404728" y="0"/>
                  </a:lnTo>
                  <a:lnTo>
                    <a:pt x="404728" y="2752539"/>
                  </a:lnTo>
                  <a:lnTo>
                    <a:pt x="0" y="2752539"/>
                  </a:lnTo>
                  <a:close/>
                </a:path>
              </a:pathLst>
            </a:custGeom>
            <a:solidFill>
              <a:srgbClr val="00A2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04728" cy="28096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803642" y="2113719"/>
            <a:ext cx="5946062" cy="8173281"/>
          </a:xfrm>
          <a:custGeom>
            <a:avLst/>
            <a:gdLst/>
            <a:ahLst/>
            <a:cxnLst/>
            <a:rect l="l" t="t" r="r" b="b"/>
            <a:pathLst>
              <a:path w="5946062" h="8173281">
                <a:moveTo>
                  <a:pt x="0" y="0"/>
                </a:moveTo>
                <a:lnTo>
                  <a:pt x="5946062" y="0"/>
                </a:lnTo>
                <a:lnTo>
                  <a:pt x="5946062" y="8173281"/>
                </a:lnTo>
                <a:lnTo>
                  <a:pt x="0" y="8173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225467" y="2022565"/>
            <a:ext cx="8095659" cy="3120935"/>
          </a:xfrm>
          <a:custGeom>
            <a:avLst/>
            <a:gdLst/>
            <a:ahLst/>
            <a:cxnLst/>
            <a:rect l="l" t="t" r="r" b="b"/>
            <a:pathLst>
              <a:path w="8095659" h="3120935">
                <a:moveTo>
                  <a:pt x="0" y="0"/>
                </a:moveTo>
                <a:lnTo>
                  <a:pt x="8095659" y="0"/>
                </a:lnTo>
                <a:lnTo>
                  <a:pt x="8095659" y="3120935"/>
                </a:lnTo>
                <a:lnTo>
                  <a:pt x="0" y="31209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36700" y="495300"/>
            <a:ext cx="16503637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208"/>
              </a:lnSpc>
            </a:pPr>
            <a:r>
              <a:rPr lang="en-US" sz="6400" dirty="0">
                <a:solidFill>
                  <a:srgbClr val="065169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EXPLORE THE </a:t>
            </a:r>
            <a:r>
              <a:rPr lang="en-US" sz="6400" u="none" dirty="0">
                <a:solidFill>
                  <a:srgbClr val="065169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POSSIBILITIES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36700" y="4975752"/>
            <a:ext cx="11473193" cy="2483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 b="1" dirty="0" err="1">
                <a:solidFill>
                  <a:srgbClr val="06516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Email:auratheatre.edu@gmail.com</a:t>
            </a:r>
            <a:endParaRPr lang="en-US" sz="4700" b="1" dirty="0">
              <a:solidFill>
                <a:srgbClr val="065169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6580"/>
              </a:lnSpc>
            </a:pPr>
            <a:r>
              <a:rPr lang="en-US" sz="4700" b="1" dirty="0" err="1">
                <a:solidFill>
                  <a:srgbClr val="06516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Website:www.auratels.com</a:t>
            </a:r>
            <a:endParaRPr lang="en-US" sz="4700" b="1" dirty="0">
              <a:solidFill>
                <a:srgbClr val="065169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6580"/>
              </a:lnSpc>
            </a:pPr>
            <a:endParaRPr lang="en-US" sz="4700" b="1" dirty="0">
              <a:solidFill>
                <a:srgbClr val="065169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2385</TotalTime>
  <Words>923</Words>
  <Application>Microsoft Office PowerPoint</Application>
  <PresentationFormat>Custom</PresentationFormat>
  <Paragraphs>122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ITC Motter Corpus Regular</vt:lpstr>
      <vt:lpstr>Garet</vt:lpstr>
      <vt:lpstr>Calibri</vt:lpstr>
      <vt:lpstr>Cambria</vt:lpstr>
      <vt:lpstr>Arial</vt:lpstr>
      <vt:lpstr>Times New Roman</vt:lpstr>
      <vt:lpstr>Canva Sans Bold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Values, Attitudes and Beliefs in Literature English Presentation in Bright Fun Illustrative Style</dc:title>
  <dc:creator>Thejashwini</dc:creator>
  <cp:lastModifiedBy>Thejashwini Rao</cp:lastModifiedBy>
  <cp:revision>2</cp:revision>
  <dcterms:created xsi:type="dcterms:W3CDTF">2006-08-16T00:00:00Z</dcterms:created>
  <dcterms:modified xsi:type="dcterms:W3CDTF">2025-08-21T17:00:52Z</dcterms:modified>
  <dc:identifier>DAGwcOS9bIo</dc:identifier>
</cp:coreProperties>
</file>